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BED35A-048F-4546-A9D7-A1DA1014F94C}" v="1231" dt="2025-11-24T19:33:16.665"/>
    <p1510:client id="{EBC55630-5E8B-4C5C-91B5-00226FF50CD6}" v="1079" dt="2025-11-24T04:26:02.276"/>
    <p1510:client id="{EE9A44A2-22FF-AB47-8903-57F43084A4B4}" v="7" dt="2025-11-24T19:39:20.9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11/24/2025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43468" y="97128"/>
            <a:ext cx="4620584" cy="656497"/>
          </a:xfrm>
        </p:spPr>
        <p:txBody>
          <a:bodyPr>
            <a:normAutofit fontScale="90000"/>
          </a:bodyPr>
          <a:lstStyle/>
          <a:p>
            <a:pPr algn="l"/>
            <a:r>
              <a:rPr lang="en-US" sz="4400" b="1"/>
              <a:t>What Is Perception?</a:t>
            </a:r>
          </a:p>
        </p:txBody>
      </p:sp>
      <p:sp>
        <p:nvSpPr>
          <p:cNvPr id="3" name="Subtitle 2"/>
          <p:cNvSpPr>
            <a:spLocks noGrp="1"/>
          </p:cNvSpPr>
          <p:nvPr>
            <p:ph type="subTitle" idx="1"/>
          </p:nvPr>
        </p:nvSpPr>
        <p:spPr>
          <a:xfrm>
            <a:off x="226524" y="1424552"/>
            <a:ext cx="4620584" cy="775494"/>
          </a:xfrm>
        </p:spPr>
        <p:txBody>
          <a:bodyPr vert="horz" lIns="91440" tIns="45720" rIns="91440" bIns="45720" rtlCol="0" anchor="t">
            <a:noAutofit/>
          </a:bodyPr>
          <a:lstStyle/>
          <a:p>
            <a:pPr algn="l"/>
            <a:r>
              <a:rPr lang="en-US" sz="2000">
                <a:latin typeface="Times New Roman"/>
                <a:cs typeface="Times New Roman"/>
              </a:rPr>
              <a:t>Perception is a machines' ability to understand the information it is given.</a:t>
            </a:r>
          </a:p>
          <a:p>
            <a:pPr algn="l"/>
            <a:r>
              <a:rPr lang="en-US" sz="2000">
                <a:latin typeface="Times New Roman"/>
                <a:cs typeface="Times New Roman"/>
              </a:rPr>
              <a:t>A machine is not considered intelligent if it is only able to take in information, it is considered intelligent when it can also understand the information it is given.</a:t>
            </a:r>
          </a:p>
        </p:txBody>
      </p:sp>
      <p:pic>
        <p:nvPicPr>
          <p:cNvPr id="4" name="Picture 3" descr="Pictures+in+ Background Images | Free Photos, PNG Stickers, Wallpapers ...">
            <a:extLst>
              <a:ext uri="{FF2B5EF4-FFF2-40B4-BE49-F238E27FC236}">
                <a16:creationId xmlns:a16="http://schemas.microsoft.com/office/drawing/2014/main" id="{05F27B74-E33F-7C98-2493-339B9FA23245}"/>
              </a:ext>
            </a:extLst>
          </p:cNvPr>
          <p:cNvPicPr>
            <a:picLocks noChangeAspect="1"/>
          </p:cNvPicPr>
          <p:nvPr/>
        </p:nvPicPr>
        <p:blipFill>
          <a:blip r:embed="rId2"/>
          <a:srcRect l="9333" r="32630"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pic>
        <p:nvPicPr>
          <p:cNvPr id="5" name="Picture 4">
            <a:extLst>
              <a:ext uri="{FF2B5EF4-FFF2-40B4-BE49-F238E27FC236}">
                <a16:creationId xmlns:a16="http://schemas.microsoft.com/office/drawing/2014/main" id="{47BA9AD5-EA92-5261-C2C7-7B4ADD81B0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800" y="3737427"/>
            <a:ext cx="5255986" cy="2886529"/>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589F5-A1E2-6ECD-F64F-9E358ED5F2AC}"/>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C1B5C283-9C55-D687-E813-E765E9690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2C10CE-47F6-A4AA-85D0-4CA80B6F15C8}"/>
              </a:ext>
            </a:extLst>
          </p:cNvPr>
          <p:cNvSpPr>
            <a:spLocks noGrp="1"/>
          </p:cNvSpPr>
          <p:nvPr>
            <p:ph type="ctrTitle"/>
          </p:nvPr>
        </p:nvSpPr>
        <p:spPr>
          <a:xfrm>
            <a:off x="643468" y="-5644"/>
            <a:ext cx="4620584" cy="1462694"/>
          </a:xfrm>
        </p:spPr>
        <p:txBody>
          <a:bodyPr>
            <a:normAutofit/>
          </a:bodyPr>
          <a:lstStyle/>
          <a:p>
            <a:pPr algn="l"/>
            <a:r>
              <a:rPr lang="en-US" sz="4000" b="1"/>
              <a:t>Why is perception important?</a:t>
            </a:r>
          </a:p>
        </p:txBody>
      </p:sp>
      <p:sp>
        <p:nvSpPr>
          <p:cNvPr id="3" name="Subtitle 2">
            <a:extLst>
              <a:ext uri="{FF2B5EF4-FFF2-40B4-BE49-F238E27FC236}">
                <a16:creationId xmlns:a16="http://schemas.microsoft.com/office/drawing/2014/main" id="{43BF02BD-6801-BEB5-8EC7-C021E96600AD}"/>
              </a:ext>
            </a:extLst>
          </p:cNvPr>
          <p:cNvSpPr>
            <a:spLocks noGrp="1"/>
          </p:cNvSpPr>
          <p:nvPr>
            <p:ph type="subTitle" idx="1"/>
          </p:nvPr>
        </p:nvSpPr>
        <p:spPr>
          <a:xfrm>
            <a:off x="643467" y="1707574"/>
            <a:ext cx="5241472" cy="4345604"/>
          </a:xfrm>
        </p:spPr>
        <p:txBody>
          <a:bodyPr vert="horz" lIns="91440" tIns="45720" rIns="91440" bIns="45720" rtlCol="0" anchor="t">
            <a:normAutofit/>
          </a:bodyPr>
          <a:lstStyle/>
          <a:p>
            <a:pPr algn="l"/>
            <a:r>
              <a:rPr lang="en-US"/>
              <a:t>Both humans and machines can collect information, but collecting isn't the same as understanding. When we understand information, we are able to explain it in simpler terms, make adjustments, and make our own judgments based on said information. Without perception, a machine can collect and relay information, but it can't use it intelligently.</a:t>
            </a:r>
          </a:p>
        </p:txBody>
      </p:sp>
      <p:pic>
        <p:nvPicPr>
          <p:cNvPr id="4" name="Picture 3" descr="Pictures+in+ Background Images | Free Photos, PNG Stickers, Wallpapers ...">
            <a:extLst>
              <a:ext uri="{FF2B5EF4-FFF2-40B4-BE49-F238E27FC236}">
                <a16:creationId xmlns:a16="http://schemas.microsoft.com/office/drawing/2014/main" id="{250D5620-263C-E968-4F9D-F81D3DE02308}"/>
              </a:ext>
            </a:extLst>
          </p:cNvPr>
          <p:cNvPicPr>
            <a:picLocks noChangeAspect="1"/>
          </p:cNvPicPr>
          <p:nvPr/>
        </p:nvPicPr>
        <p:blipFill>
          <a:blip r:embed="rId2"/>
          <a:srcRect l="9333" r="32630"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4007899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B81A0-9406-B754-8608-51129D986379}"/>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D391D328-B581-57D9-6FD9-ED8F32B0E8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561FFA-EFA6-AFC2-25AF-C3116072E66D}"/>
              </a:ext>
            </a:extLst>
          </p:cNvPr>
          <p:cNvSpPr>
            <a:spLocks noGrp="1"/>
          </p:cNvSpPr>
          <p:nvPr>
            <p:ph type="ctrTitle"/>
          </p:nvPr>
        </p:nvSpPr>
        <p:spPr>
          <a:xfrm>
            <a:off x="643468" y="-5644"/>
            <a:ext cx="4620584" cy="898251"/>
          </a:xfrm>
        </p:spPr>
        <p:txBody>
          <a:bodyPr>
            <a:normAutofit/>
          </a:bodyPr>
          <a:lstStyle/>
          <a:p>
            <a:pPr algn="l"/>
            <a:r>
              <a:rPr lang="en-US" sz="4000" b="1"/>
              <a:t>Template Matching</a:t>
            </a:r>
          </a:p>
        </p:txBody>
      </p:sp>
      <p:sp>
        <p:nvSpPr>
          <p:cNvPr id="3" name="Subtitle 2">
            <a:extLst>
              <a:ext uri="{FF2B5EF4-FFF2-40B4-BE49-F238E27FC236}">
                <a16:creationId xmlns:a16="http://schemas.microsoft.com/office/drawing/2014/main" id="{90668F75-9667-EAA0-EABC-AA41B60892FF}"/>
              </a:ext>
            </a:extLst>
          </p:cNvPr>
          <p:cNvSpPr>
            <a:spLocks noGrp="1"/>
          </p:cNvSpPr>
          <p:nvPr>
            <p:ph type="subTitle" idx="1"/>
          </p:nvPr>
        </p:nvSpPr>
        <p:spPr>
          <a:xfrm>
            <a:off x="643467" y="1707574"/>
            <a:ext cx="5241472" cy="4345604"/>
          </a:xfrm>
        </p:spPr>
        <p:txBody>
          <a:bodyPr vert="horz" lIns="91440" tIns="45720" rIns="91440" bIns="45720" rtlCol="0" anchor="t">
            <a:normAutofit lnSpcReduction="10000"/>
          </a:bodyPr>
          <a:lstStyle/>
          <a:p>
            <a:pPr marL="342900" indent="-342900" algn="l">
              <a:buChar char="•"/>
            </a:pPr>
            <a:r>
              <a:rPr lang="en-US"/>
              <a:t>A method used to understand images is Template Matching, in essence, the robot stores a templates (bit patterns) for what each digit looks like and compares each section of the camera angle to these templates.</a:t>
            </a:r>
          </a:p>
          <a:p>
            <a:pPr marL="342900" indent="-342900" algn="l">
              <a:buChar char="•"/>
            </a:pPr>
            <a:endParaRPr lang="en-US"/>
          </a:p>
          <a:p>
            <a:pPr algn="l"/>
            <a:r>
              <a:rPr lang="en-US" b="1"/>
              <a:t>     Problems:</a:t>
            </a:r>
          </a:p>
          <a:p>
            <a:pPr marL="342900" indent="-342900" algn="l">
              <a:buChar char="•"/>
            </a:pPr>
            <a:r>
              <a:rPr lang="en-US"/>
              <a:t>Images must be consistent in size.</a:t>
            </a:r>
          </a:p>
          <a:p>
            <a:pPr marL="342900" indent="-342900" algn="l">
              <a:buChar char="•"/>
            </a:pPr>
            <a:r>
              <a:rPr lang="en-US"/>
              <a:t>Handwriting is impossible to understand using this method.</a:t>
            </a:r>
          </a:p>
        </p:txBody>
      </p:sp>
      <p:pic>
        <p:nvPicPr>
          <p:cNvPr id="4" name="Picture 3" descr="Pictures+in+ Background Images | Free Photos, PNG Stickers, Wallpapers ...">
            <a:extLst>
              <a:ext uri="{FF2B5EF4-FFF2-40B4-BE49-F238E27FC236}">
                <a16:creationId xmlns:a16="http://schemas.microsoft.com/office/drawing/2014/main" id="{1AA54281-2F88-D467-9993-5096BA56445B}"/>
              </a:ext>
            </a:extLst>
          </p:cNvPr>
          <p:cNvPicPr>
            <a:picLocks noChangeAspect="1"/>
          </p:cNvPicPr>
          <p:nvPr/>
        </p:nvPicPr>
        <p:blipFill>
          <a:blip r:embed="rId2"/>
          <a:srcRect l="9333" r="32630"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35281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C6712-B7C7-213A-D272-31734D559AA2}"/>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872C7F15-4618-5300-6178-C35FA2878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7787C1-2915-BC15-C5FE-2E621A37E256}"/>
              </a:ext>
            </a:extLst>
          </p:cNvPr>
          <p:cNvSpPr>
            <a:spLocks noGrp="1"/>
          </p:cNvSpPr>
          <p:nvPr>
            <p:ph type="ctrTitle"/>
          </p:nvPr>
        </p:nvSpPr>
        <p:spPr>
          <a:xfrm>
            <a:off x="544691" y="-5644"/>
            <a:ext cx="5340249" cy="1067584"/>
          </a:xfrm>
        </p:spPr>
        <p:txBody>
          <a:bodyPr>
            <a:normAutofit fontScale="90000"/>
          </a:bodyPr>
          <a:lstStyle/>
          <a:p>
            <a:pPr algn="l"/>
            <a:r>
              <a:rPr lang="en-US" sz="4000" b="1"/>
              <a:t>Feature-Based Recognition</a:t>
            </a:r>
          </a:p>
        </p:txBody>
      </p:sp>
      <p:sp>
        <p:nvSpPr>
          <p:cNvPr id="3" name="Subtitle 2">
            <a:extLst>
              <a:ext uri="{FF2B5EF4-FFF2-40B4-BE49-F238E27FC236}">
                <a16:creationId xmlns:a16="http://schemas.microsoft.com/office/drawing/2014/main" id="{426C6268-F11D-C5C9-DF95-42A062E41DF0}"/>
              </a:ext>
            </a:extLst>
          </p:cNvPr>
          <p:cNvSpPr>
            <a:spLocks noGrp="1"/>
          </p:cNvSpPr>
          <p:nvPr>
            <p:ph type="subTitle" idx="1"/>
          </p:nvPr>
        </p:nvSpPr>
        <p:spPr>
          <a:xfrm>
            <a:off x="643467" y="1707574"/>
            <a:ext cx="5241472" cy="4345604"/>
          </a:xfrm>
        </p:spPr>
        <p:txBody>
          <a:bodyPr vert="horz" lIns="91440" tIns="45720" rIns="91440" bIns="45720" rtlCol="0" anchor="t">
            <a:normAutofit lnSpcReduction="10000"/>
          </a:bodyPr>
          <a:lstStyle/>
          <a:p>
            <a:pPr marL="342900" indent="-342900" algn="l">
              <a:buChar char="•"/>
            </a:pPr>
            <a:r>
              <a:rPr lang="en-US"/>
              <a:t>Another method is feature based recognition where the AI looks for shapes instead of patterns. It then compares the shapes to known digit descriptions.</a:t>
            </a:r>
          </a:p>
          <a:p>
            <a:pPr algn="l"/>
            <a:r>
              <a:rPr lang="en-US" b="1"/>
              <a:t>    Problems:</a:t>
            </a:r>
          </a:p>
          <a:p>
            <a:pPr marL="342900" indent="-342900" algn="l">
              <a:buChar char="•"/>
            </a:pPr>
            <a:r>
              <a:rPr lang="en-US"/>
              <a:t>Small image errors such as C being mistaken for O or 3 being mistaken for B may occur.</a:t>
            </a:r>
          </a:p>
          <a:p>
            <a:pPr marL="342900" indent="-342900" algn="l">
              <a:buChar char="•"/>
            </a:pPr>
            <a:r>
              <a:rPr lang="en-US"/>
              <a:t>This method becomes very inaccurate when details are noisy, distorted, or missing.</a:t>
            </a:r>
          </a:p>
          <a:p>
            <a:pPr algn="l"/>
            <a:endParaRPr lang="en-US"/>
          </a:p>
        </p:txBody>
      </p:sp>
      <p:pic>
        <p:nvPicPr>
          <p:cNvPr id="4" name="Picture 3" descr="Pictures+in+ Background Images | Free Photos, PNG Stickers, Wallpapers ...">
            <a:extLst>
              <a:ext uri="{FF2B5EF4-FFF2-40B4-BE49-F238E27FC236}">
                <a16:creationId xmlns:a16="http://schemas.microsoft.com/office/drawing/2014/main" id="{A3CD52BA-0928-29B7-4575-BE1F9ECE60CD}"/>
              </a:ext>
            </a:extLst>
          </p:cNvPr>
          <p:cNvPicPr>
            <a:picLocks noChangeAspect="1"/>
          </p:cNvPicPr>
          <p:nvPr/>
        </p:nvPicPr>
        <p:blipFill>
          <a:blip r:embed="rId2"/>
          <a:srcRect l="9333" r="32630"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052741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2748F-B66C-5653-09EE-FB2F91FC870A}"/>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880012A3-E408-AA8F-C396-B946A3E872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00FCAD-B2EF-00A4-4C27-45E414EF4518}"/>
              </a:ext>
            </a:extLst>
          </p:cNvPr>
          <p:cNvSpPr>
            <a:spLocks noGrp="1"/>
          </p:cNvSpPr>
          <p:nvPr>
            <p:ph type="ctrTitle"/>
          </p:nvPr>
        </p:nvSpPr>
        <p:spPr>
          <a:xfrm>
            <a:off x="544691" y="-5644"/>
            <a:ext cx="5340249" cy="1067584"/>
          </a:xfrm>
        </p:spPr>
        <p:txBody>
          <a:bodyPr>
            <a:normAutofit/>
          </a:bodyPr>
          <a:lstStyle/>
          <a:p>
            <a:pPr algn="l"/>
            <a:r>
              <a:rPr lang="en-US" sz="4000" b="1"/>
              <a:t>Real Images</a:t>
            </a:r>
          </a:p>
        </p:txBody>
      </p:sp>
      <p:sp>
        <p:nvSpPr>
          <p:cNvPr id="3" name="Subtitle 2">
            <a:extLst>
              <a:ext uri="{FF2B5EF4-FFF2-40B4-BE49-F238E27FC236}">
                <a16:creationId xmlns:a16="http://schemas.microsoft.com/office/drawing/2014/main" id="{40859B2B-857F-709A-8A8B-952B647F71DB}"/>
              </a:ext>
            </a:extLst>
          </p:cNvPr>
          <p:cNvSpPr>
            <a:spLocks noGrp="1"/>
          </p:cNvSpPr>
          <p:nvPr>
            <p:ph type="subTitle" idx="1"/>
          </p:nvPr>
        </p:nvSpPr>
        <p:spPr>
          <a:xfrm>
            <a:off x="643467" y="1707574"/>
            <a:ext cx="5241472" cy="4345604"/>
          </a:xfrm>
        </p:spPr>
        <p:txBody>
          <a:bodyPr vert="horz" lIns="91440" tIns="45720" rIns="91440" bIns="45720" rtlCol="0" anchor="t">
            <a:normAutofit lnSpcReduction="10000"/>
          </a:bodyPr>
          <a:lstStyle/>
          <a:p>
            <a:pPr marL="342900" indent="-342900" algn="l">
              <a:buChar char="•"/>
            </a:pPr>
            <a:r>
              <a:rPr lang="en-US"/>
              <a:t>Template matching and feature based recognition are usually used for easier images such as in the puzzle solving machine we were given in the textbook</a:t>
            </a:r>
          </a:p>
          <a:p>
            <a:pPr marL="342900" indent="-342900" algn="l">
              <a:buChar char="•"/>
            </a:pPr>
            <a:r>
              <a:rPr lang="en-US"/>
              <a:t> Real-life images are much more complicated because objects overlap, appear at different angles and some areas may be hidden or out of the camera range. Real-world images are usually analyzed in two major steps, Image processing and Image analysis.</a:t>
            </a:r>
          </a:p>
          <a:p>
            <a:pPr algn="l"/>
            <a:endParaRPr lang="en-US"/>
          </a:p>
        </p:txBody>
      </p:sp>
      <p:pic>
        <p:nvPicPr>
          <p:cNvPr id="4" name="Picture 3" descr="Pictures+in+ Background Images | Free Photos, PNG Stickers, Wallpapers ...">
            <a:extLst>
              <a:ext uri="{FF2B5EF4-FFF2-40B4-BE49-F238E27FC236}">
                <a16:creationId xmlns:a16="http://schemas.microsoft.com/office/drawing/2014/main" id="{7CE7626B-559A-567F-6325-E8F9F9F7CAF6}"/>
              </a:ext>
            </a:extLst>
          </p:cNvPr>
          <p:cNvPicPr>
            <a:picLocks noChangeAspect="1"/>
          </p:cNvPicPr>
          <p:nvPr/>
        </p:nvPicPr>
        <p:blipFill>
          <a:blip r:embed="rId2"/>
          <a:srcRect l="9333" r="32630"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776085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5EF12-EF60-7D27-1588-FC6FD245BC85}"/>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873DD93B-29B0-5576-A5B1-63FD4200A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FCE374-D595-9251-333A-506AD5D6E7A8}"/>
              </a:ext>
            </a:extLst>
          </p:cNvPr>
          <p:cNvSpPr>
            <a:spLocks noGrp="1"/>
          </p:cNvSpPr>
          <p:nvPr>
            <p:ph type="ctrTitle"/>
          </p:nvPr>
        </p:nvSpPr>
        <p:spPr>
          <a:xfrm>
            <a:off x="544691" y="-5644"/>
            <a:ext cx="5340249" cy="1067584"/>
          </a:xfrm>
        </p:spPr>
        <p:txBody>
          <a:bodyPr>
            <a:normAutofit/>
          </a:bodyPr>
          <a:lstStyle/>
          <a:p>
            <a:pPr algn="l"/>
            <a:r>
              <a:rPr lang="en-US" sz="4000" b="1"/>
              <a:t>Image processing</a:t>
            </a:r>
          </a:p>
        </p:txBody>
      </p:sp>
      <p:sp>
        <p:nvSpPr>
          <p:cNvPr id="3" name="Subtitle 2">
            <a:extLst>
              <a:ext uri="{FF2B5EF4-FFF2-40B4-BE49-F238E27FC236}">
                <a16:creationId xmlns:a16="http://schemas.microsoft.com/office/drawing/2014/main" id="{BAE12E3E-28FF-7514-EEE3-E98434E742C1}"/>
              </a:ext>
            </a:extLst>
          </p:cNvPr>
          <p:cNvSpPr>
            <a:spLocks noGrp="1"/>
          </p:cNvSpPr>
          <p:nvPr>
            <p:ph type="subTitle" idx="1"/>
          </p:nvPr>
        </p:nvSpPr>
        <p:spPr>
          <a:xfrm>
            <a:off x="643467" y="1707574"/>
            <a:ext cx="5241472" cy="4345604"/>
          </a:xfrm>
        </p:spPr>
        <p:txBody>
          <a:bodyPr vert="horz" lIns="91440" tIns="45720" rIns="91440" bIns="45720" rtlCol="0" anchor="t">
            <a:normAutofit/>
          </a:bodyPr>
          <a:lstStyle/>
          <a:p>
            <a:pPr marL="342900" indent="-342900" algn="l">
              <a:buChar char="•"/>
            </a:pPr>
            <a:r>
              <a:rPr lang="en-US"/>
              <a:t>Focuses on extracting visual </a:t>
            </a:r>
            <a:r>
              <a:rPr lang="en-US" err="1"/>
              <a:t>characterestics</a:t>
            </a:r>
            <a:r>
              <a:rPr lang="en-US"/>
              <a:t> and enhancing the image by making boundaries clearer, grouping similar areas, identifying which parts may belong to the same object, removing noise, etc...</a:t>
            </a:r>
          </a:p>
          <a:p>
            <a:pPr marL="342900" indent="-342900" algn="l">
              <a:buChar char="•"/>
            </a:pPr>
            <a:r>
              <a:rPr lang="en-US"/>
              <a:t>Doing this makes the image easier to work with and allows for clearer more accurate data to be collected</a:t>
            </a:r>
          </a:p>
        </p:txBody>
      </p:sp>
      <p:pic>
        <p:nvPicPr>
          <p:cNvPr id="4" name="Picture 3" descr="Pictures+in+ Background Images | Free Photos, PNG Stickers, Wallpapers ...">
            <a:extLst>
              <a:ext uri="{FF2B5EF4-FFF2-40B4-BE49-F238E27FC236}">
                <a16:creationId xmlns:a16="http://schemas.microsoft.com/office/drawing/2014/main" id="{A426A481-9F98-6E4E-07CE-E7759229502E}"/>
              </a:ext>
            </a:extLst>
          </p:cNvPr>
          <p:cNvPicPr>
            <a:picLocks noChangeAspect="1"/>
          </p:cNvPicPr>
          <p:nvPr/>
        </p:nvPicPr>
        <p:blipFill>
          <a:blip r:embed="rId2"/>
          <a:srcRect l="9333" r="32630"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587692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4BB43-E931-F69E-604E-9927C8D7AAC7}"/>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7D5B67A-20B5-CD97-EA2B-2228F7A3FD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DB0D78-E11F-80B1-1163-9B011EF40C5F}"/>
              </a:ext>
            </a:extLst>
          </p:cNvPr>
          <p:cNvSpPr>
            <a:spLocks noGrp="1"/>
          </p:cNvSpPr>
          <p:nvPr>
            <p:ph type="ctrTitle"/>
          </p:nvPr>
        </p:nvSpPr>
        <p:spPr>
          <a:xfrm>
            <a:off x="544691" y="-5644"/>
            <a:ext cx="5340249" cy="1067584"/>
          </a:xfrm>
        </p:spPr>
        <p:txBody>
          <a:bodyPr>
            <a:normAutofit/>
          </a:bodyPr>
          <a:lstStyle/>
          <a:p>
            <a:pPr algn="l"/>
            <a:r>
              <a:rPr lang="en-US" sz="4000" b="1"/>
              <a:t>Image Analysis</a:t>
            </a:r>
          </a:p>
        </p:txBody>
      </p:sp>
      <p:sp>
        <p:nvSpPr>
          <p:cNvPr id="3" name="Subtitle 2">
            <a:extLst>
              <a:ext uri="{FF2B5EF4-FFF2-40B4-BE49-F238E27FC236}">
                <a16:creationId xmlns:a16="http://schemas.microsoft.com/office/drawing/2014/main" id="{902ECFB5-C7F2-F2AE-311A-520D8EE8BD08}"/>
              </a:ext>
            </a:extLst>
          </p:cNvPr>
          <p:cNvSpPr>
            <a:spLocks noGrp="1"/>
          </p:cNvSpPr>
          <p:nvPr>
            <p:ph type="subTitle" idx="1"/>
          </p:nvPr>
        </p:nvSpPr>
        <p:spPr>
          <a:xfrm>
            <a:off x="643467" y="1707574"/>
            <a:ext cx="5241472" cy="4345604"/>
          </a:xfrm>
        </p:spPr>
        <p:txBody>
          <a:bodyPr vert="horz" lIns="91440" tIns="45720" rIns="91440" bIns="45720" rtlCol="0" anchor="t">
            <a:normAutofit fontScale="92500" lnSpcReduction="10000"/>
          </a:bodyPr>
          <a:lstStyle/>
          <a:p>
            <a:pPr marL="342900" indent="-342900" algn="l">
              <a:buChar char="•"/>
            </a:pPr>
            <a:r>
              <a:rPr lang="en-US"/>
              <a:t>Focuses on understanding what the now processed features mean.</a:t>
            </a:r>
          </a:p>
          <a:p>
            <a:pPr marL="342900" indent="-342900" algn="l">
              <a:buChar char="•"/>
            </a:pPr>
            <a:r>
              <a:rPr lang="en-US"/>
              <a:t>During this step the machine identifies objects then tries to make an educated guess on what that object might mean.</a:t>
            </a:r>
          </a:p>
          <a:p>
            <a:pPr marL="342900" indent="-342900" algn="l">
              <a:buChar char="•"/>
            </a:pPr>
            <a:r>
              <a:rPr lang="en-US"/>
              <a:t>It then checks if the guess matches the features.</a:t>
            </a:r>
          </a:p>
          <a:p>
            <a:pPr algn="l"/>
            <a:r>
              <a:rPr lang="en-US" b="1"/>
              <a:t>     Machines still struggle with:</a:t>
            </a:r>
          </a:p>
          <a:p>
            <a:pPr algn="l"/>
            <a:r>
              <a:rPr lang="en-US" b="1"/>
              <a:t>    </a:t>
            </a:r>
            <a:r>
              <a:rPr lang="en-US"/>
              <a:t> Identifying hidden parts, low lighting,</a:t>
            </a:r>
          </a:p>
          <a:p>
            <a:pPr algn="l"/>
            <a:r>
              <a:rPr lang="en-US"/>
              <a:t>     Perspective changes etc...</a:t>
            </a:r>
          </a:p>
          <a:p>
            <a:pPr algn="l"/>
            <a:r>
              <a:rPr lang="en-US"/>
              <a:t>     </a:t>
            </a:r>
          </a:p>
          <a:p>
            <a:pPr algn="l"/>
            <a:r>
              <a:rPr lang="en-US" b="1"/>
              <a:t>    </a:t>
            </a:r>
            <a:r>
              <a:rPr lang="en-US"/>
              <a:t> </a:t>
            </a:r>
          </a:p>
        </p:txBody>
      </p:sp>
      <p:pic>
        <p:nvPicPr>
          <p:cNvPr id="4" name="Picture 3" descr="Pictures+in+ Background Images | Free Photos, PNG Stickers, Wallpapers ...">
            <a:extLst>
              <a:ext uri="{FF2B5EF4-FFF2-40B4-BE49-F238E27FC236}">
                <a16:creationId xmlns:a16="http://schemas.microsoft.com/office/drawing/2014/main" id="{68AED7E2-F145-7F58-1A28-82106DF513E4}"/>
              </a:ext>
            </a:extLst>
          </p:cNvPr>
          <p:cNvPicPr>
            <a:picLocks noChangeAspect="1"/>
          </p:cNvPicPr>
          <p:nvPr/>
        </p:nvPicPr>
        <p:blipFill>
          <a:blip r:embed="rId2"/>
          <a:srcRect l="9333" r="32630"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537349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7583241E-8AE0-DFD7-7EC6-980721616DB2}"/>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82E14B7-E8E1-F440-75D8-C7C6DF9A3E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A9684B-4E40-418C-9BAA-4B87BF12B44C}"/>
              </a:ext>
            </a:extLst>
          </p:cNvPr>
          <p:cNvSpPr>
            <a:spLocks noGrp="1"/>
          </p:cNvSpPr>
          <p:nvPr>
            <p:ph type="ctrTitle"/>
          </p:nvPr>
        </p:nvSpPr>
        <p:spPr>
          <a:xfrm>
            <a:off x="645332" y="2625413"/>
            <a:ext cx="5340249" cy="1067584"/>
          </a:xfrm>
        </p:spPr>
        <p:txBody>
          <a:bodyPr>
            <a:normAutofit fontScale="90000"/>
          </a:bodyPr>
          <a:lstStyle/>
          <a:p>
            <a:pPr algn="l"/>
            <a:r>
              <a:rPr lang="en-US" sz="4000" b="1"/>
              <a:t>Thank You For Listening!!</a:t>
            </a:r>
          </a:p>
        </p:txBody>
      </p:sp>
      <p:sp>
        <p:nvSpPr>
          <p:cNvPr id="3" name="Subtitle 2">
            <a:extLst>
              <a:ext uri="{FF2B5EF4-FFF2-40B4-BE49-F238E27FC236}">
                <a16:creationId xmlns:a16="http://schemas.microsoft.com/office/drawing/2014/main" id="{25FDC1FA-7840-F24C-265B-FE3ECC3B6A76}"/>
              </a:ext>
            </a:extLst>
          </p:cNvPr>
          <p:cNvSpPr>
            <a:spLocks noGrp="1"/>
          </p:cNvSpPr>
          <p:nvPr>
            <p:ph type="subTitle" idx="1"/>
          </p:nvPr>
        </p:nvSpPr>
        <p:spPr>
          <a:xfrm>
            <a:off x="643467" y="1707574"/>
            <a:ext cx="5241472" cy="4345604"/>
          </a:xfrm>
        </p:spPr>
        <p:txBody>
          <a:bodyPr vert="horz" lIns="91440" tIns="45720" rIns="91440" bIns="45720" rtlCol="0" anchor="t">
            <a:normAutofit/>
          </a:bodyPr>
          <a:lstStyle/>
          <a:p>
            <a:pPr marL="342900" indent="-342900" algn="l">
              <a:buChar char="•"/>
            </a:pPr>
            <a:endParaRPr lang="en-US"/>
          </a:p>
          <a:p>
            <a:pPr algn="l"/>
            <a:r>
              <a:rPr lang="en-US"/>
              <a:t>     </a:t>
            </a:r>
          </a:p>
          <a:p>
            <a:pPr algn="l"/>
            <a:r>
              <a:rPr lang="en-US" b="1"/>
              <a:t>    </a:t>
            </a:r>
            <a:r>
              <a:rPr lang="en-US"/>
              <a:t> </a:t>
            </a:r>
          </a:p>
        </p:txBody>
      </p:sp>
      <p:pic>
        <p:nvPicPr>
          <p:cNvPr id="4" name="Picture 3" descr="Pictures+in+ Background Images | Free Photos, PNG Stickers, Wallpapers ...">
            <a:extLst>
              <a:ext uri="{FF2B5EF4-FFF2-40B4-BE49-F238E27FC236}">
                <a16:creationId xmlns:a16="http://schemas.microsoft.com/office/drawing/2014/main" id="{961CC6EF-2E8A-4413-2BF2-DB6892C15D3F}"/>
              </a:ext>
            </a:extLst>
          </p:cNvPr>
          <p:cNvPicPr>
            <a:picLocks noChangeAspect="1"/>
          </p:cNvPicPr>
          <p:nvPr/>
        </p:nvPicPr>
        <p:blipFill>
          <a:blip r:embed="rId2"/>
          <a:srcRect l="9333" r="32630" b="-1"/>
          <a:stretch>
            <a:fillRect/>
          </a:stretch>
        </p:blipFill>
        <p:spPr>
          <a:xfrm>
            <a:off x="5395328" y="10"/>
            <a:ext cx="6796672"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7485924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8</Slides>
  <Notes>0</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What Is Perception?</vt:lpstr>
      <vt:lpstr>Why is perception important?</vt:lpstr>
      <vt:lpstr>Template Matching</vt:lpstr>
      <vt:lpstr>Feature-Based Recognition</vt:lpstr>
      <vt:lpstr>Real Images</vt:lpstr>
      <vt:lpstr>Image processing</vt:lpstr>
      <vt:lpstr>Image Analysis</vt:lpstr>
      <vt:lpstr>Thank You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Perception?</dc:title>
  <dc:creator/>
  <cp:revision>3</cp:revision>
  <dcterms:created xsi:type="dcterms:W3CDTF">2025-11-23T21:21:37Z</dcterms:created>
  <dcterms:modified xsi:type="dcterms:W3CDTF">2025-11-24T19:40:23Z</dcterms:modified>
</cp:coreProperties>
</file>